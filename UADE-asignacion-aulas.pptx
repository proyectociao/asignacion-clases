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36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8CDD4"/>
                </a:solidFill>
                <a:latin typeface="Calibri"/>
              </a:rPr>
              <a:t>UADE  ·  Dirección de IT  ·  Campus Buenos Aires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De la planilla Excel
a la asignación con criterio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749039"/>
            <a:ext cx="9601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E6E2DA"/>
                </a:solidFill>
                <a:latin typeface="Calibri"/>
              </a:rPr>
              <a:t>Tablero para ubicar clases en aulas: filtrar, ordenar, ver sillas vacías
y sugerir el espacio que mejor cierra. El operador confirma. Nadie graba solo.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8B0B8"/>
                </a:solidFill>
                <a:latin typeface="Calibri"/>
              </a:rPr>
              <a:t>Monserrat / Belgrano  ·  1er cuatrimestre 2026  ·  6 diapositivas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C6066"/>
                </a:solidFill>
                <a:latin typeface="Calibri"/>
              </a:rPr>
              <a:t>El flujo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4364A"/>
                </a:solidFill>
                <a:latin typeface="Calibri"/>
              </a:rPr>
              <a:t>Hoy se copia el cuatri anterior. El tablero ordena ese trabajo.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10972800" cy="1051560"/>
          </a:xfrm>
          <a:prstGeom prst="roundRect">
            <a:avLst>
              <a:gd name="adj" fmla="val 8000"/>
            </a:avLst>
          </a:prstGeom>
          <a:solidFill>
            <a:srgbClr val="FFFCF8"/>
          </a:solidFill>
          <a:ln>
            <a:solidFill>
              <a:srgbClr val="DD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8132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C6066"/>
                </a:solidFill>
                <a:latin typeface="Calibri"/>
              </a:rPr>
              <a:t>Dolor actual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B1C1E"/>
                </a:solidFill>
                <a:latin typeface="Calibri"/>
              </a:rPr>
              <a:t>Excel de ~10.000 filas · copiar y pegar · 45 mil alumnos · no se ven sillas vacías ni choques de aula.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788920"/>
            <a:ext cx="1572768" cy="1691640"/>
          </a:xfrm>
          <a:prstGeom prst="roundRect">
            <a:avLst>
              <a:gd name="adj" fmla="val 8000"/>
            </a:avLst>
          </a:prstGeom>
          <a:solidFill>
            <a:srgbClr val="FFFCF8"/>
          </a:solidFill>
          <a:ln>
            <a:solidFill>
              <a:srgbClr val="DD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907792"/>
            <a:ext cx="13898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4364A"/>
                </a:solidFill>
                <a:latin typeface="Calibri"/>
              </a:rPr>
              <a:t>1. Excel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310128"/>
            <a:ext cx="1389888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6066"/>
                </a:solidFill>
                <a:latin typeface="Calibri"/>
              </a:rPr>
              <a:t>Copia del
cuatri anterior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093976" y="3429000"/>
            <a:ext cx="256032" cy="256032"/>
          </a:xfrm>
          <a:prstGeom prst="rightArrow">
            <a:avLst/>
          </a:prstGeom>
          <a:solidFill>
            <a:srgbClr val="243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423160" y="2788920"/>
            <a:ext cx="1572768" cy="1691640"/>
          </a:xfrm>
          <a:prstGeom prst="roundRect">
            <a:avLst>
              <a:gd name="adj" fmla="val 8000"/>
            </a:avLst>
          </a:prstGeom>
          <a:solidFill>
            <a:srgbClr val="FFFCF8"/>
          </a:solidFill>
          <a:ln>
            <a:solidFill>
              <a:srgbClr val="DD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14600" y="2907792"/>
            <a:ext cx="13898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4364A"/>
                </a:solidFill>
                <a:latin typeface="Calibri"/>
              </a:rPr>
              <a:t>2. Oferta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4600" y="3310128"/>
            <a:ext cx="1389888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6066"/>
                </a:solidFill>
                <a:latin typeface="Calibri"/>
              </a:rPr>
              <a:t>Filtrar, ordenar
y editar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014215" y="3429000"/>
            <a:ext cx="256032" cy="256032"/>
          </a:xfrm>
          <a:prstGeom prst="rightArrow">
            <a:avLst/>
          </a:prstGeom>
          <a:solidFill>
            <a:srgbClr val="243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343400" y="2788920"/>
            <a:ext cx="1572768" cy="1691640"/>
          </a:xfrm>
          <a:prstGeom prst="roundRect">
            <a:avLst>
              <a:gd name="adj" fmla="val 8000"/>
            </a:avLst>
          </a:prstGeom>
          <a:solidFill>
            <a:srgbClr val="FFFCF8"/>
          </a:solidFill>
          <a:ln>
            <a:solidFill>
              <a:srgbClr val="DD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4840" y="2907792"/>
            <a:ext cx="13898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4364A"/>
                </a:solidFill>
                <a:latin typeface="Calibri"/>
              </a:rPr>
              <a:t>3. Demanda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3310128"/>
            <a:ext cx="1389888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6066"/>
                </a:solidFill>
                <a:latin typeface="Calibri"/>
              </a:rPr>
              <a:t>Actualizar
inscriptos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934455" y="3429000"/>
            <a:ext cx="256032" cy="256032"/>
          </a:xfrm>
          <a:prstGeom prst="rightArrow">
            <a:avLst/>
          </a:prstGeom>
          <a:solidFill>
            <a:srgbClr val="243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63640" y="2788920"/>
            <a:ext cx="1572768" cy="1691640"/>
          </a:xfrm>
          <a:prstGeom prst="roundRect">
            <a:avLst>
              <a:gd name="adj" fmla="val 8000"/>
            </a:avLst>
          </a:prstGeom>
          <a:solidFill>
            <a:srgbClr val="24364A"/>
          </a:solidFill>
          <a:ln>
            <a:solidFill>
              <a:srgbClr val="2436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79" y="2907792"/>
            <a:ext cx="13898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4. Sugerir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79" y="3310128"/>
            <a:ext cx="1389888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6E2DA"/>
                </a:solidFill>
                <a:latin typeface="Calibri"/>
              </a:rPr>
              <a:t>Aula que mejor
cierra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7854696" y="3429000"/>
            <a:ext cx="256032" cy="256032"/>
          </a:xfrm>
          <a:prstGeom prst="rightArrow">
            <a:avLst/>
          </a:prstGeom>
          <a:solidFill>
            <a:srgbClr val="243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183879" y="2788920"/>
            <a:ext cx="1572768" cy="1691640"/>
          </a:xfrm>
          <a:prstGeom prst="roundRect">
            <a:avLst>
              <a:gd name="adj" fmla="val 8000"/>
            </a:avLst>
          </a:prstGeom>
          <a:solidFill>
            <a:srgbClr val="FFFCF8"/>
          </a:solidFill>
          <a:ln>
            <a:solidFill>
              <a:srgbClr val="DD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75319" y="2907792"/>
            <a:ext cx="13898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4364A"/>
                </a:solidFill>
                <a:latin typeface="Calibri"/>
              </a:rPr>
              <a:t>5. Mapa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19" y="3310128"/>
            <a:ext cx="1389888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6066"/>
                </a:solidFill>
                <a:latin typeface="Calibri"/>
              </a:rPr>
              <a:t>Sillas vacías
piso a piso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9774936" y="3429000"/>
            <a:ext cx="256032" cy="256032"/>
          </a:xfrm>
          <a:prstGeom prst="rightArrow">
            <a:avLst/>
          </a:prstGeom>
          <a:solidFill>
            <a:srgbClr val="243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104119" y="2788920"/>
            <a:ext cx="1572768" cy="1691640"/>
          </a:xfrm>
          <a:prstGeom prst="roundRect">
            <a:avLst>
              <a:gd name="adj" fmla="val 8000"/>
            </a:avLst>
          </a:prstGeom>
          <a:solidFill>
            <a:srgbClr val="24364A"/>
          </a:solidFill>
          <a:ln>
            <a:solidFill>
              <a:srgbClr val="2436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195559" y="2907792"/>
            <a:ext cx="13898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6. Grabar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95559" y="3310128"/>
            <a:ext cx="1389888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6E2DA"/>
                </a:solidFill>
                <a:latin typeface="Calibri"/>
              </a:rPr>
              <a:t>Escribir GRABAR
antes de pisar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475488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B1C1E"/>
                </a:solidFill>
                <a:latin typeface="Calibri"/>
              </a:rPr>
              <a:t>Solución: el operador sigue mandando. El sistema muestra impacto (sillas, choques, sobrecupo)
y sugiere. El docente y el día/hora no se tocan: ya vienen de la oferta y del motor de los DD.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C6066"/>
                </a:solidFill>
                <a:latin typeface="Calibri"/>
              </a:rPr>
              <a:t>Oferta de clases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4364A"/>
                </a:solidFill>
                <a:latin typeface="Calibri"/>
              </a:rPr>
              <a:t>El Excel, operable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97280"/>
            <a:ext cx="49377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5C6066"/>
                </a:solidFill>
                <a:latin typeface="Calibri"/>
              </a:rPr>
              <a:t>Qué hace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B1C1E"/>
                </a:solidFill>
                <a:latin typeface="Calibri"/>
              </a:rPr>
              <a:t>Grilla de las 233 clases de la muestra. Cada fila es una comisión, no un alumno.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B1C1E"/>
                </a:solidFill>
                <a:latin typeface="Calibri"/>
              </a:rPr>
              <a:t>Filtros por sede, turno y facultad — sin cambiar el dato.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B1C1E"/>
                </a:solidFill>
                <a:latin typeface="Calibri"/>
              </a:rPr>
              <a:t>Clic en el título de columna: ordena ▲ / ▼.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B1C1E"/>
                </a:solidFill>
                <a:latin typeface="Calibri"/>
              </a:rPr>
              <a:t>Se edita aula, cupo y turno. Alta de clase nueva.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5C6066"/>
                </a:solidFill>
                <a:latin typeface="Calibri"/>
              </a:rPr>
              <a:t>Qué resuelve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B1C1E"/>
                </a:solidFill>
                <a:latin typeface="Calibri"/>
              </a:rPr>
              <a:t>Deja de ser un archivo de 40 columnas sueltas. El operador ve y corrige sobre la copia del cuatri anterior.</a:t>
            </a:r>
          </a:p>
        </p:txBody>
      </p:sp>
      <p:pic>
        <p:nvPicPr>
          <p:cNvPr id="5" name="Picture 4" descr="01-ofer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1051560"/>
            <a:ext cx="6126480" cy="38290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C6066"/>
                </a:solidFill>
                <a:latin typeface="Calibri"/>
              </a:rPr>
              <a:t>Demanda y copiloto de aula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4364A"/>
                </a:solidFill>
                <a:latin typeface="Calibri"/>
              </a:rPr>
              <a:t>Sugerir no graba. Actualizar demanda recuenta.</a:t>
            </a:r>
          </a:p>
        </p:txBody>
      </p:sp>
      <p:pic>
        <p:nvPicPr>
          <p:cNvPr id="4" name="Picture 3" descr="04-deman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43000"/>
            <a:ext cx="5669280" cy="3543300"/>
          </a:xfrm>
          <a:prstGeom prst="rect">
            <a:avLst/>
          </a:prstGeom>
        </p:spPr>
      </p:pic>
      <p:pic>
        <p:nvPicPr>
          <p:cNvPr id="5" name="Picture 4" descr="02-sugeri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143000"/>
            <a:ext cx="5486400" cy="3429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5074920"/>
            <a:ext cx="11155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B1C1E"/>
                </a:solidFill>
                <a:latin typeface="Calibri"/>
              </a:rPr>
              <a:t>Demanda: el alumno pide materia + carrera. El operador aprieta Actualizar cuando quiere datos frescos.
Sugerir: misma sede, entra por cupo, no se pisa el horario, menos sillas vacías. 1 recomendada + 2 alternativas + por qué no entran las otras.
“Usar esta” solo pinta el borrador.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C6066"/>
                </a:solidFill>
                <a:latin typeface="Calibri"/>
              </a:rPr>
              <a:t>Mapa cine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4364A"/>
                </a:solidFill>
                <a:latin typeface="Calibri"/>
              </a:rPr>
              <a:t>Las sillas vacías, a la vista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97280"/>
            <a:ext cx="48463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5C6066"/>
                </a:solidFill>
                <a:latin typeface="Calibri"/>
              </a:rPr>
              <a:t>Qué hace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B1C1E"/>
                </a:solidFill>
                <a:latin typeface="Calibri"/>
              </a:rPr>
              <a:t>Cada aula como sala: pizarra adelante, pasillo, sillas hacia el fondo.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B1C1E"/>
                </a:solidFill>
                <a:latin typeface="Calibri"/>
              </a:rPr>
              <a:t>Piso a piso, día y turno. Llena = alumno. Vacía = asiento por optimizar.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B1C1E"/>
                </a:solidFill>
                <a:latin typeface="Calibri"/>
              </a:rPr>
              <a:t>Modo noche: fondo negro, tipografía clara (todas las pantallas).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5C6066"/>
                </a:solidFill>
                <a:latin typeface="Calibri"/>
              </a:rPr>
              <a:t>Qué resuelve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B1C1E"/>
                </a:solidFill>
                <a:latin typeface="Calibri"/>
              </a:rPr>
              <a:t>Lo que el Excel no muestra: una comisión de 29 en un aula de 70 se ve. Es el impacto visual para autoridades.</a:t>
            </a:r>
          </a:p>
        </p:txBody>
      </p:sp>
      <p:pic>
        <p:nvPicPr>
          <p:cNvPr id="5" name="Picture 4" descr="05-mapa-d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051560"/>
            <a:ext cx="6172200" cy="38576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C6066"/>
                </a:solidFill>
                <a:latin typeface="Calibri"/>
              </a:rPr>
              <a:t>Cierre y frontera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4364A"/>
                </a:solidFill>
                <a:latin typeface="Calibri"/>
              </a:rPr>
              <a:t>El operador confirma. El sistema no manda.</a:t>
            </a:r>
          </a:p>
        </p:txBody>
      </p:sp>
      <p:pic>
        <p:nvPicPr>
          <p:cNvPr id="4" name="Picture 3" descr="03-gra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43000"/>
            <a:ext cx="5760720" cy="360045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46520" y="1143000"/>
            <a:ext cx="5212080" cy="4160520"/>
          </a:xfrm>
          <a:prstGeom prst="roundRect">
            <a:avLst>
              <a:gd name="adj" fmla="val 8000"/>
            </a:avLst>
          </a:prstGeom>
          <a:solidFill>
            <a:srgbClr val="FFFCF8"/>
          </a:solidFill>
          <a:ln>
            <a:solidFill>
              <a:srgbClr val="DD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29400" y="128016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5C6066"/>
                </a:solidFill>
                <a:latin typeface="Calibri"/>
              </a:rPr>
              <a:t>Grabar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B1C1E"/>
                </a:solidFill>
                <a:latin typeface="Calibri"/>
              </a:rPr>
              <a:t>Hay que escribir GRABAR. Resume filas, choques y sobrecupos. Un “¿estás seguro?” vacío no alcanza.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5C6066"/>
                </a:solidFill>
                <a:latin typeface="Calibri"/>
              </a:rPr>
              <a:t>Qué no hace (a propósito)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B1C1E"/>
                </a:solidFill>
                <a:latin typeface="Calibri"/>
              </a:rPr>
              <a:t>No predice docentes: eso es el motor de los DD. No cambia día ni horario de la oferta.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5C6066"/>
                </a:solidFill>
                <a:latin typeface="Calibri"/>
              </a:rPr>
              <a:t>Cómo se muestra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B1C1E"/>
                </a:solidFill>
                <a:latin typeface="Calibri"/>
              </a:rPr>
              <a:t>Hoy: este tablero. Después: API en Visual Studio Insiders y pantalla en VS Code, misma base Postgres.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989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4364A"/>
                </a:solidFill>
                <a:latin typeface="Calibri"/>
              </a:rPr>
              <a:t>En una frase: Excel operativo, con frenos, filtros y un copiloto de aula. El mapa enseña las sillas que hoy se desperdician.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